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Inter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C8B945-23C7-4C49-9763-AE132B601ABB}">
  <a:tblStyle styleId="{B2C8B945-23C7-4C49-9763-AE132B601A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regular.fntdata"/><Relationship Id="rId20" Type="http://schemas.openxmlformats.org/officeDocument/2006/relationships/slide" Target="slides/slide14.xml"/><Relationship Id="rId42" Type="http://schemas.openxmlformats.org/officeDocument/2006/relationships/font" Target="fonts/InterMedium-italic.fntdata"/><Relationship Id="rId41" Type="http://schemas.openxmlformats.org/officeDocument/2006/relationships/font" Target="fonts/InterMedium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InterMedium-boldItalic.fntdata"/><Relationship Id="rId24" Type="http://schemas.openxmlformats.org/officeDocument/2006/relationships/font" Target="fonts/InterSemiBold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f81fc08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f81fc08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f81fc085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f81fc0855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5649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Infrastructure Zimbra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 Collaboration Suite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8793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Inter Medium"/>
                <a:ea typeface="Inter Medium"/>
                <a:cs typeface="Inter Medium"/>
                <a:sym typeface="Inter Medium"/>
              </a:rPr>
              <a:t>Architecture Distribuée de Messagerie d'Entreprise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10856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ADMINISTRATION SYSTÈMES ET RÉSEAUX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CONTEXTE DU PROJET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622500"/>
            <a:ext cx="52387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Déploiement d'une infrastructure de messagerie professionnelle </a:t>
            </a: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open-source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capable de répondre aux exigences de production réelles.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681412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Architecture distribuée sur 3 VMs distinctes.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142333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Isolation des composants critiques (LDAP, MTA, Store).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603253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Simulation d'un environnement haute disponibilité.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42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519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611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BESOINS ET RÉPONSES APPORTÉES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571500" y="2414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{B2C8B945-23C7-4C49-9763-AE132B601ABB}</a:tableStyleId>
              </a:tblPr>
              <a:tblGrid>
                <a:gridCol w="4016125"/>
                <a:gridCol w="7032875"/>
              </a:tblGrid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Besoin Client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Solution 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Messagerie sécurisée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Zimbra avec chiffrement SSL/TLS complet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Architecture scalable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Séparation des rôles sur 3 serveurs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Filtrage avancé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Amavis + SpamAssassin + ClamAV intégrés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moderne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Zimbra Web Client (Modern UI / HTML5)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Accès distant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Tailscale Funnel (URL publique HTTPS)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Optimisation des coûts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Distribution Maldua Zimbra 10.1.3 FOSS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15"/>
          <p:cNvSpPr/>
          <p:nvPr/>
        </p:nvSpPr>
        <p:spPr>
          <a:xfrm>
            <a:off x="571500" y="3305175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587626" y="3305175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71500" y="3733800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87626" y="3733800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4162425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587626" y="4162425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591050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87626" y="4591050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5019675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587626" y="5019675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5448300"/>
            <a:ext cx="4016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87626" y="5448300"/>
            <a:ext cx="703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9466"/>
            <a:ext cx="2583656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2639466"/>
            <a:ext cx="2583656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639466"/>
            <a:ext cx="2583656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6843" y="2639466"/>
            <a:ext cx="2583656" cy="22743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LOGICIELLE ET PROTOCOLES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57150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3474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3506241"/>
            <a:ext cx="20927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SMTP / LMTP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3887241"/>
            <a:ext cx="199310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Routage et livraison via Postfix. Ports: 25, 587, 7025.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8556" y="293474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3688556" y="3506241"/>
            <a:ext cx="20927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IMAP / POP3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688556" y="3887241"/>
            <a:ext cx="1993106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Consultation synchronisée via Nginx Proxy. Ports: 993, 995.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293474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510337" y="3506241"/>
            <a:ext cx="20927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LDAP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10337" y="3887241"/>
            <a:ext cx="1993106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Annuaire centralisé OpenLDAP pour authentification. Port: 389.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32118" y="293474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332118" y="3506241"/>
            <a:ext cx="20927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Sécurité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332118" y="3887241"/>
            <a:ext cx="199310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Amavis, SpamAssassin &amp; ClamAV pour le filtrage actif.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2759"/>
            <a:ext cx="5405437" cy="1525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792759"/>
            <a:ext cx="5405437" cy="152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DÉFINITION DES SERVICES ZIMBRA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460429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Une alternative complète et souveraine à Microsoft Exchange et Google Workspace.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3088034"/>
            <a:ext cx="50556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Zimbra Webmail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3535709"/>
            <a:ext cx="4814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Messagerie, calendrier, contacts, tâches et partage de fichiers intégré (Briefcase).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10337" y="3088034"/>
            <a:ext cx="50556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Console Admin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10337" y="3535709"/>
            <a:ext cx="4814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Gestion centralisée des comptes, domaines et monitoring sur le port 7071.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8854"/>
            <a:ext cx="3524250" cy="1540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548854"/>
            <a:ext cx="3524250" cy="1540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548854"/>
            <a:ext cx="3524250" cy="154096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DES 3 NŒUDS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1872704"/>
            <a:ext cx="2933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VM 1 - LDAP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2063204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 Cerveau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Annuaire central, comptes et configuration système.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29150" y="1872704"/>
            <a:ext cx="2933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VM 2 - MTA &amp; Proxy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29150" y="2063204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Passerelle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Routage SMTP, Filtrage Antispam et Reverse Proxy Nginx.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91525" y="1872704"/>
            <a:ext cx="2933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VM 3 - Store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391525" y="2063204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 Coffre-fort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Stockage des mails, base MariaDB et Console Admin.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9725"/>
            <a:ext cx="11887199" cy="60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099976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JUSTIFICATION DE LA STACK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1"/>
          <p:cNvGraphicFramePr/>
          <p:nvPr/>
        </p:nvGraphicFramePr>
        <p:xfrm>
          <a:off x="571500" y="2628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{B2C8B945-23C7-4C49-9763-AE132B601ABB}</a:tableStyleId>
              </a:tblPr>
              <a:tblGrid>
                <a:gridCol w="1970475"/>
                <a:gridCol w="2826700"/>
                <a:gridCol w="6251825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Composant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Technologie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Justification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Système 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Rocky Linux 9.7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Stabilité RHEL, gratuité et support Zimbra 10.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Messagerie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Maldua Zimbra 10.1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 FOSS compatible avec les OS récents.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Virtualisation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VMware Workstation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industrie pour les labs réseaux complexes.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Accès VPN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Tailscale Funnel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Tunneling sécurisé sans configuration de firewall.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Jetty / Java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Moteur haute performance pour le service Mailbox.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1"/>
          <p:cNvSpPr/>
          <p:nvPr/>
        </p:nvSpPr>
        <p:spPr>
          <a:xfrm>
            <a:off x="571500" y="3519487"/>
            <a:ext cx="1970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541984" y="3519487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368676" y="3519487"/>
            <a:ext cx="62518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3948112"/>
            <a:ext cx="1970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541984" y="3948112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368676" y="3948112"/>
            <a:ext cx="62518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4376737"/>
            <a:ext cx="1970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541984" y="4376737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368676" y="4376737"/>
            <a:ext cx="62518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4805362"/>
            <a:ext cx="1970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541984" y="4805362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368676" y="4805362"/>
            <a:ext cx="62518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71500" y="5233987"/>
            <a:ext cx="1970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541984" y="5233987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368676" y="5233987"/>
            <a:ext cx="62518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ÉTAPES DE RÉALISATION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384333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451520" y="323001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21780" y="3649116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030116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Préparation Infra &amp; VMs Rocky Linux.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3716535" y="323001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2786795" y="3649116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2836515" y="4030116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Installation Zimbra (LDAP &gt; MTA &gt; Store).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981551" y="323001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051810" y="3649116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101530" y="4030116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Résolution bugs Jetty &amp; XML.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8246566" y="323001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7316825" y="3649116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Phase 4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366545" y="4030116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Tests d'envoi &amp; validation services.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10511581" y="323001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9581841" y="3649116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Phase 5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631560" y="4030116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Exposition via Tailscale Funnel.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ADRESSAGE ET MATRICE DE FLUX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23"/>
          <p:cNvGraphicFramePr/>
          <p:nvPr/>
        </p:nvGraphicFramePr>
        <p:xfrm>
          <a:off x="571500" y="3071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{B2C8B945-23C7-4C49-9763-AE132B601ABB}</a:tableStyleId>
              </a:tblPr>
              <a:tblGrid>
                <a:gridCol w="2183900"/>
                <a:gridCol w="914850"/>
                <a:gridCol w="21400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Rôle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ldap.mail.lab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Master LDAP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mta.mail.lab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MTA / Proxy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store.mail.lab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Mailboxd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3"/>
          <p:cNvSpPr txBox="1"/>
          <p:nvPr/>
        </p:nvSpPr>
        <p:spPr>
          <a:xfrm>
            <a:off x="6381750" y="2776686"/>
            <a:ext cx="5238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Ports Stratégiques :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810375" y="3066157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443 : HTTPS Webmail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810375" y="3527077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7071 : Console Admin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810375" y="3987998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25/587 : Flux SMTP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810375" y="4448919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389 : Sync LDAP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3933676"/>
            <a:ext cx="21839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755403" y="3933676"/>
            <a:ext cx="91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670250" y="3933676"/>
            <a:ext cx="2139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4362301"/>
            <a:ext cx="21839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755403" y="4362301"/>
            <a:ext cx="91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670250" y="4362301"/>
            <a:ext cx="2139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4790926"/>
            <a:ext cx="21839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755403" y="4790926"/>
            <a:ext cx="914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670250" y="4790926"/>
            <a:ext cx="21399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090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6994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308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491781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DÉFIS TECHNIQUES SURMONTÉS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381750" y="2629048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Bug Jetty XML (IDs dupliqués)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381750" y="2905273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Développement d'un </a:t>
            </a: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script Python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pour la correction automatisée des fichiers de configuration Jetty.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776412" y="3205013"/>
            <a:ext cx="28289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1776412" y="4252763"/>
            <a:ext cx="2828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Bugs Résolus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810375" y="3674715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Injection de DOCTYPE manquants.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810375" y="4135635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Correction de la résolution DNS Postfix.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810375" y="4596556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Automatisation du déploiement via script.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76462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SÉCURITÉ ET DISPONIBILITÉ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85987"/>
            <a:ext cx="5219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000125" y="2921496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Chiffrement SSL/TLS sur tous les protocoles.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000125" y="3382416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Isolation Admin : Accessible uniquement via VPN.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000125" y="3843337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Filtrage ClamAV &amp; SpamAssassin en temps réel.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000125" y="4304258"/>
            <a:ext cx="48101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Authentification centralisée OpenLDAP.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2527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62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47120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17491"/>
            <a:ext cx="4953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71500" y="2040433"/>
            <a:ext cx="5200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ACCÈS DISTANT FUNNEL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381000" y="2040433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2869108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Problématique 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Accéder au lab local (IP privée) depuis Internet sans configuration de firewall complexe.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71500" y="3448050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Solution 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Tailscale Funnel crée un tunnel chiffré et offre une URL publique HTTPS avec certificat automatique.</a:t>
            </a:r>
            <a:endParaRPr/>
          </a:p>
        </p:txBody>
      </p:sp>
      <p:pic>
        <p:nvPicPr>
          <p:cNvPr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-14784" r="0" t="0"/>
          <a:stretch/>
        </p:blipFill>
        <p:spPr>
          <a:xfrm>
            <a:off x="6388250" y="728025"/>
            <a:ext cx="4953000" cy="63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2804"/>
            <a:ext cx="3524250" cy="2341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72804"/>
            <a:ext cx="3524250" cy="2341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672804"/>
            <a:ext cx="3524250" cy="234106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BILAN ET PERSPECTIVES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7" name="Google Shape;30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6807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 txBox="1"/>
          <p:nvPr/>
        </p:nvSpPr>
        <p:spPr>
          <a:xfrm>
            <a:off x="866775" y="3539579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Pédagogique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866775" y="3987254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Maîtrise des architectures distribuées, du debug Java/XML et du scripting d'automatisation.</a:t>
            </a:r>
            <a:endParaRPr/>
          </a:p>
        </p:txBody>
      </p:sp>
      <p:pic>
        <p:nvPicPr>
          <p:cNvPr descr="image.png" id="310" name="Google Shape;31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96807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4629150" y="3539579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Économique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4629150" y="3987254"/>
            <a:ext cx="2933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Pas de c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oût de licence grâce à la stack Open Source Maldua et Tailscale.</a:t>
            </a:r>
            <a:endParaRPr/>
          </a:p>
        </p:txBody>
      </p:sp>
      <p:pic>
        <p:nvPicPr>
          <p:cNvPr descr="image.png" id="313" name="Google Shape;313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96807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8391525" y="3539579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Évolutivité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8391525" y="3987254"/>
            <a:ext cx="2933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Possibilité d'ajouter des serveurs Mailbox en cluster et réplication LDAP.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295275" y="2215604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Questions ?</a:t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5715000" y="3434804"/>
            <a:ext cx="76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571500" y="3682454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Merci pour votre attention !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571500" y="435292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Démonstration live : store.tail38d366.ts.net</a:t>
            </a:r>
            <a:endParaRPr/>
          </a:p>
        </p:txBody>
      </p:sp>
      <p:pic>
        <p:nvPicPr>
          <p:cNvPr descr="image.png" id="325" name="Google Shape;3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953000"/>
            <a:ext cx="12192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9"/>
          <p:cNvSpPr txBox="1"/>
          <p:nvPr/>
        </p:nvSpPr>
        <p:spPr>
          <a:xfrm>
            <a:off x="762000" y="571500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571500" y="571500"/>
            <a:ext cx="57150" cy="409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571500" y="172045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571500" y="250522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571500" y="32899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571500" y="407476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571500" y="24956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571500" y="24956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571500" y="32804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571500" y="32804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571500" y="40652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571500" y="40652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571500" y="48500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571500" y="48500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5" name="Google Shape;3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98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1666875" y="186332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https://images.stockcake.com/public/e/b/3/eb3e4357-385d-4ead-acb7-7bdf3d89f42f_large/futuristic-server-room-stockcake.jpg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1666875" y="210904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48" name="Google Shape;34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4647"/>
            <a:ext cx="1012328" cy="8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1666875" y="26480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https://creately.com/static/assets/guides/network-diagram-symbols/cisco-network-diagram-symbols.webp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1666875" y="28938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creately.com</a:t>
            </a:r>
            <a:endParaRPr/>
          </a:p>
        </p:txBody>
      </p:sp>
      <p:pic>
        <p:nvPicPr>
          <p:cNvPr descr="image.png" id="351" name="Google Shape;35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9417"/>
            <a:ext cx="1005929" cy="8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1666875" y="34328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https://png.pngtree.com/png-clipart/20250208/original/pngtree-a-blue-shield-with-lock-icon-representing-online-security-digital-protection-png-image_20258472.png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1666875" y="36785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54" name="Google Shape;35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4188"/>
            <a:ext cx="1035843" cy="8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1666875" y="42176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https://miro.medium.com/1*eH6cjftN1ULSQpwV_2J_LA.png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1666875" y="44633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357" name="Google Shape;35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080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9"/>
          <p:cNvSpPr txBox="1"/>
          <p:nvPr/>
        </p:nvSpPr>
        <p:spPr>
          <a:xfrm>
            <a:off x="1666875" y="500241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https://png.pngtree.com/thumb_back/fw800/background/20220519/pngtree-successful-business-meeting-conclusion-modern-office-businesspeople-shake-hands-photo-image_34896472.jpg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1666875" y="54462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